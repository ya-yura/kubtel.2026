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f061dca9304b8f" /><Relationship Type="http://schemas.openxmlformats.org/officeDocument/2006/relationships/extended-properties" Target="/docProps/app.xml" Id="R5e98b74735d34d40" /><Relationship Type="http://schemas.openxmlformats.org/officeDocument/2006/relationships/officeDocument" Target="/ppt/presentation.xml" Id="Rf5f831f1a2cf46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85a19afb544150"/>
  </p:sldMasterIdLst>
  <p:notesMasterIdLst>
    <p:notesMasterId xmlns:r="http://schemas.openxmlformats.org/officeDocument/2006/relationships" r:id="R904354b4c3b24b71"/>
  </p:notesMasterIdLst>
  <p:sldIdLst>
    <p:sldId xmlns:r="http://schemas.openxmlformats.org/officeDocument/2006/relationships" id="256" r:id="R18b0fbc163764421"/>
    <p:sldId xmlns:r="http://schemas.openxmlformats.org/officeDocument/2006/relationships" id="257" r:id="R660d64cb2b05434b"/>
    <p:sldId xmlns:r="http://schemas.openxmlformats.org/officeDocument/2006/relationships" id="258" r:id="Rad1eb4cb794144a3"/>
    <p:sldId xmlns:r="http://schemas.openxmlformats.org/officeDocument/2006/relationships" id="259" r:id="R3aaa23b044574704"/>
    <p:sldId xmlns:r="http://schemas.openxmlformats.org/officeDocument/2006/relationships" id="260" r:id="R327cb926fc924aa5"/>
    <p:sldId xmlns:r="http://schemas.openxmlformats.org/officeDocument/2006/relationships" id="261" r:id="Ra71c61caa32d40da"/>
    <p:sldId xmlns:r="http://schemas.openxmlformats.org/officeDocument/2006/relationships" id="262" r:id="R0f6a7be956fc4711"/>
    <p:sldId xmlns:r="http://schemas.openxmlformats.org/officeDocument/2006/relationships" id="263" r:id="R7103b92d548b476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7dee328f45479a" /><Relationship Type="http://schemas.openxmlformats.org/officeDocument/2006/relationships/slideMaster" Target="/ppt/slideMasters/slideMaster1.xml" Id="R9c85a19afb544150" /><Relationship Type="http://schemas.openxmlformats.org/officeDocument/2006/relationships/notesMaster" Target="/ppt/notesMasters/notesMaster1.xml" Id="R904354b4c3b24b71" /><Relationship Type="http://schemas.openxmlformats.org/officeDocument/2006/relationships/presProps" Target="/ppt/presProps.xml" Id="R7c23e7bbf86f416d" /><Relationship Type="http://schemas.openxmlformats.org/officeDocument/2006/relationships/tableStyles" Target="/ppt/tableStyles.xml" Id="Ree485046a7604839" /><Relationship Type="http://schemas.openxmlformats.org/officeDocument/2006/relationships/slide" Target="/ppt/slides/slide1.xml" Id="R18b0fbc163764421" /><Relationship Type="http://schemas.openxmlformats.org/officeDocument/2006/relationships/slide" Target="/ppt/slides/slide2.xml" Id="R660d64cb2b05434b" /><Relationship Type="http://schemas.openxmlformats.org/officeDocument/2006/relationships/slide" Target="/ppt/slides/slide3.xml" Id="Rad1eb4cb794144a3" /><Relationship Type="http://schemas.openxmlformats.org/officeDocument/2006/relationships/slide" Target="/ppt/slides/slide4.xml" Id="R3aaa23b044574704" /><Relationship Type="http://schemas.openxmlformats.org/officeDocument/2006/relationships/slide" Target="/ppt/slides/slide5.xml" Id="R327cb926fc924aa5" /><Relationship Type="http://schemas.openxmlformats.org/officeDocument/2006/relationships/slide" Target="/ppt/slides/slide6.xml" Id="Ra71c61caa32d40da" /><Relationship Type="http://schemas.openxmlformats.org/officeDocument/2006/relationships/slide" Target="/ppt/slides/slide7.xml" Id="R0f6a7be956fc4711" /><Relationship Type="http://schemas.openxmlformats.org/officeDocument/2006/relationships/slide" Target="/ppt/slides/slide8.xml" Id="R7103b92d548b47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9dd896da394c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18f86ad6634dc8" /><Relationship Type="http://schemas.openxmlformats.org/officeDocument/2006/relationships/notesMaster" Target="/ppt/notesMasters/notesMaster1.xml" Id="R7e13ad18d41c47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2f976a6eba4627" /><Relationship Type="http://schemas.openxmlformats.org/officeDocument/2006/relationships/notesMaster" Target="/ppt/notesMasters/notesMaster1.xml" Id="Rcc1f93e50f3546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74a276fa4d4dac" /><Relationship Type="http://schemas.openxmlformats.org/officeDocument/2006/relationships/notesMaster" Target="/ppt/notesMasters/notesMaster1.xml" Id="Rddd75e5a216f4c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45d2a46f9248b8" /><Relationship Type="http://schemas.openxmlformats.org/officeDocument/2006/relationships/notesMaster" Target="/ppt/notesMasters/notesMaster1.xml" Id="Re94c361e1d9b41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20ad4186a443da" /><Relationship Type="http://schemas.openxmlformats.org/officeDocument/2006/relationships/notesMaster" Target="/ppt/notesMasters/notesMaster1.xml" Id="R6096ac9dc2054e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763ca97e124d0d" /><Relationship Type="http://schemas.openxmlformats.org/officeDocument/2006/relationships/notesMaster" Target="/ppt/notesMasters/notesMaster1.xml" Id="R5dff129b8f5c4f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887a774c044eb4" /><Relationship Type="http://schemas.openxmlformats.org/officeDocument/2006/relationships/notesMaster" Target="/ppt/notesMasters/notesMaster1.xml" Id="Rd077cff1d14249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8bf7b35e044408" /><Relationship Type="http://schemas.openxmlformats.org/officeDocument/2006/relationships/notesMaster" Target="/ppt/notesMasters/notesMaster1.xml" Id="R64294a16802f4e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3b732f524d46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42e956f5b44f6c" /><Relationship Type="http://schemas.openxmlformats.org/officeDocument/2006/relationships/slideLayout" Target="/ppt/slideLayouts/slideLayout1.xml" Id="R62aca38478f940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aca38478f940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dd09f510544b2" /><Relationship Type="http://schemas.openxmlformats.org/officeDocument/2006/relationships/notesSlide" Target="/ppt/notesSlides/notesSlide1.xml" Id="R75a7dece484b43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c63ff681946d5" /><Relationship Type="http://schemas.openxmlformats.org/officeDocument/2006/relationships/notesSlide" Target="/ppt/notesSlides/notesSlide2.xml" Id="R12296c5970664a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793edfc964338" /><Relationship Type="http://schemas.openxmlformats.org/officeDocument/2006/relationships/chart" Target="/ppt/slides/charts/chart1.xml" Id="R33ddb519325944cd" /><Relationship Type="http://schemas.openxmlformats.org/officeDocument/2006/relationships/notesSlide" Target="/ppt/notesSlides/notesSlide3.xml" Id="R8b357732f4e34a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0387bb4704d94" /><Relationship Type="http://schemas.openxmlformats.org/officeDocument/2006/relationships/notesSlide" Target="/ppt/notesSlides/notesSlide4.xml" Id="Rd45ac929374149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8411d794642aa" /><Relationship Type="http://schemas.openxmlformats.org/officeDocument/2006/relationships/notesSlide" Target="/ppt/notesSlides/notesSlide5.xml" Id="R93af7fa2837940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1ef9265c342a4" /><Relationship Type="http://schemas.openxmlformats.org/officeDocument/2006/relationships/notesSlide" Target="/ppt/notesSlides/notesSlide6.xml" Id="R8815cf9caa074d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6f75ba58a4611" /><Relationship Type="http://schemas.openxmlformats.org/officeDocument/2006/relationships/notesSlide" Target="/ppt/notesSlides/notesSlide7.xml" Id="R2c9336a1d57347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0e66be2c5417a" /><Relationship Type="http://schemas.openxmlformats.org/officeDocument/2006/relationships/notesSlide" Target="/ppt/notesSlides/notesSlide8.xml" Id="Rfe621a542b63438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Визиты</c:v>
          </c:tx>
          <c:spPr>
            <a:solidFill xmlns:a="http://schemas.openxmlformats.org/drawingml/2006/main">
              <a:srgbClr val="6E48E6"/>
            </a:solidFill>
          </c:spPr>
          <c:cat>
            <c:strLit>
              <c:ptCount val="5"/>
              <c:pt idx="0">
                <c:v>Поиск</c:v>
              </c:pt>
              <c:pt idx="1">
                <c:v>Прямые</c:v>
              </c:pt>
              <c:pt idx="2">
                <c:v>Ссылки</c:v>
              </c:pt>
              <c:pt idx="3">
                <c:v>Внутренние</c:v>
              </c:pt>
              <c:pt idx="4">
                <c:v>Рекомендации</c:v>
              </c:pt>
            </c:strLit>
          </c:cat>
          <c:val>
            <c:numLit>
              <c:formatCode>General</c:formatCode>
              <c:ptCount val="5"/>
              <c:pt idx="0">
                <c:v>32182</c:v>
              </c:pt>
              <c:pt idx="1">
                <c:v>16132</c:v>
              </c:pt>
              <c:pt idx="2">
                <c:v>6423</c:v>
              </c:pt>
              <c:pt idx="3">
                <c:v>1055</c:v>
              </c:pt>
              <c:pt idx="4">
                <c:v>952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majorGridlines>
          <c:spPr>
            <a:ln xmlns:a="http://schemas.openxmlformats.org/drawingml/2006/main" w="9525">
              <a:solidFill>
                <a:srgbClr val="E9ED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E9EDF5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9E920-5ED4-4C67-A60B-4C2628D2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8E6"/>
          </a:solidFill>
          <a:ln xmlns:a="http://schemas.openxmlformats.org/drawingml/2006/main" w="0">
            <a:solidFill>
              <a:srgbClr val="6E48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AB4B21-4424-4849-93E0-0D7EA37E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7A5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B7A5FF"/>
                </a:solidFill>
                <a:latin typeface="Aptos"/>
                <a:ea typeface="Aptos"/>
                <a:cs typeface="Aptos"/>
              </a:rPr>
              <a:t>КУБАНЬ-ТЕЛЕКОМ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C14C3-E11D-4AB3-9877-3B4C0406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Сайт как система</a:t>
            </a:r>
          </a:p>
          <a:p xmlns:a="http://schemas.openxmlformats.org/drawingml/2006/main">
            <a:pPr algn="l">
              <a:defRPr sz="4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подключений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67DCC-0E7B-4CB3-858D-09B9AADE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6DBE8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D6DBE8"/>
                </a:solidFill>
                <a:latin typeface="Aptos"/>
                <a:ea typeface="Aptos"/>
                <a:cs typeface="Aptos"/>
              </a:rPr>
              <a:t>Факты Метрики → рабочие гипотезы → решения для B2C, B2B, B2O, телефонии и ТВ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0AFC6-E0E8-4459-B951-3B45FA18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90650"/>
            <a:ext cx="26670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211E4A"/>
          </a:solidFill>
          <a:ln xmlns:a="http://schemas.openxmlformats.org/drawingml/2006/main" w="9525">
            <a:solidFill>
              <a:srgbClr val="4B3F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3BDD6-F204-4C8B-88DD-7B9A2094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526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7A5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B7A5FF"/>
                </a:solidFill>
                <a:latin typeface="Aptos"/>
                <a:ea typeface="Aptos"/>
                <a:cs typeface="Aptos"/>
              </a:rPr>
              <a:t>Цель встречи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5251D-982E-4B17-B7D9-C5C3D28E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71700"/>
            <a:ext cx="200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944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Согласовать</a:t>
            </a:r>
          </a:p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первый контур</a:t>
            </a:r>
          </a:p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сквозной воронки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F59F95-80B2-4921-BCDB-7EB3FA11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7C0D4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B7C0D4"/>
                </a:solidFill>
                <a:latin typeface="Aptos"/>
                <a:ea typeface="Aptos"/>
                <a:cs typeface="Aptos"/>
              </a:rPr>
              <a:t>21.07.2025–20.07.2026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C67FA-2606-4901-BFD5-8CD71DA0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7C0D4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B7C0D4"/>
                </a:solidFill>
                <a:latin typeface="Aptos"/>
                <a:ea typeface="Aptos"/>
                <a:cs typeface="Aptos"/>
              </a:rPr>
              <a:t>Совещание руководителей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718ED-21D3-4F2C-9031-D02ACE28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115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B7C0D4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B7C0D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200056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D64892-6147-4BB7-9B94-969FC37B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Трафик есть. Главный резерв — последняя миля до лида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ABFE5-06D8-4F1D-98ED-DC077C90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Вопрос не в том, как привести ещё людей, а в том, как довести текущий спрос до подключения.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B0566-802A-4F49-8786-1B828E8B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E5F82-6AF1-4F61-A0F6-97A2CB33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811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A5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B7A5FF"/>
                </a:solidFill>
                <a:latin typeface="Aptos"/>
                <a:ea typeface="Aptos"/>
                <a:cs typeface="Aptos"/>
              </a:rPr>
              <a:t>Ключевой вывод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FF6E4-9CA3-4E34-8282-81B49BDB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379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Сайт уже работает как канал спроса, но Метрика пока плохо отличает интерес от реального подключения.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89644-8F06-4651-A890-F5427FF1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476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DB95D-9FAE-4ACE-9D33-6600A1F0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8E6"/>
          </a:solidFill>
          <a:ln xmlns:a="http://schemas.openxmlformats.org/drawingml/2006/main" w="0">
            <a:solidFill>
              <a:srgbClr val="6E48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E524B-6811-4560-8194-71D32B3B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6E48E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6E48E6"/>
                </a:solidFill>
                <a:latin typeface="Aptos"/>
                <a:ea typeface="Aptos"/>
                <a:cs typeface="Aptos"/>
              </a:rPr>
              <a:t>57 135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1A271-942A-4AD5-B1C8-B90CCBD8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визитов за год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1DF13-59D2-41A9-BE26-04889077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43250"/>
            <a:ext cx="2476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750F2-7009-4975-AE0E-41C3FAFA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4325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75FF"/>
          </a:solidFill>
          <a:ln xmlns:a="http://schemas.openxmlformats.org/drawingml/2006/main" w="0">
            <a:solidFill>
              <a:srgbClr val="3A75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78721-2254-460D-B218-348D453D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290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3A75FF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3A75FF"/>
                </a:solidFill>
                <a:latin typeface="Aptos"/>
                <a:ea typeface="Aptos"/>
                <a:cs typeface="Aptos"/>
              </a:rPr>
              <a:t>56,3%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B9DEA-AB43-459C-AFD1-C2F9A055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14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из поиска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CA360D-1C5B-48DC-9573-B32483D0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2476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350E96-0840-4ED0-98D1-EBB8B866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8F"/>
          </a:solidFill>
          <a:ln xmlns:a="http://schemas.openxmlformats.org/drawingml/2006/main" w="0">
            <a:solidFill>
              <a:srgbClr val="00A88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011AFB-19A9-4EC2-80A2-037E1D2C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00A88F"/>
                </a:solidFill>
                <a:latin typeface="Aptos"/>
                <a:ea typeface="Aptos"/>
                <a:cs typeface="Aptos"/>
              </a:rPr>
              <a:t>2 347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7A6E86-F3BC-4A77-AFCE-220D7F38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кликов по телефону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30262E-3163-4900-B458-55E8D5C2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43250"/>
            <a:ext cx="2476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2A6B5A-17C3-45A9-8C62-CEAEFA46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4325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033281-57D0-41C3-888E-C32D733F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290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F59E0B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7D0806-662B-49A5-ABA7-17F2004A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14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отправок контактных данных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61848C-0A50-4066-AE5C-8EC655E3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Решение на встрече: утвердить владельца сквозной воронки и первый тест, который измеряется квалифицированным лидом, а не кликом.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94B03A-98C8-4749-9D54-16BB5065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E9EDF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581288-9C40-4809-9EC9-34250A20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Яндекс.Метрика · счётчик 32522125 · 21.07.2025–20.07.2026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E08184-78C1-4473-9765-19072E70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920781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C5B618-17D2-4374-82FB-58EB9A99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SEO и прямой трафик — спрос уже сформирован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62F5E-C720-4475-8ADA-A4AAD493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56,33% визитов приходят из поиска; ещё 28,23% — напрямую.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595312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ddb519325944c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D8047-E42C-4CD3-8F97-B81B86FA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24000"/>
            <a:ext cx="45339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C2A54-5891-4011-A9AB-2282A9A0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47850"/>
            <a:ext cx="21145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8E6"/>
          </a:solidFill>
          <a:ln xmlns:a="http://schemas.openxmlformats.org/drawingml/2006/main" w="0">
            <a:solidFill>
              <a:srgbClr val="6E48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F3AAF-F5F8-46A7-A3E8-8EC63E78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859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ИМПЛИКАЦИЯ ДЛЯ РЕДИЗАЙНА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7B0E8-6BA2-42A2-82FE-F0750ECF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2410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812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Сохраняем спрос</a:t>
            </a:r>
          </a:p>
          <a:p xmlns:a="http://schemas.openxmlformats.org/drawingml/2006/main">
            <a:pPr algn="l">
              <a:defRPr sz="2175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до того, как улучшаем дизайн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570E2-DAF4-4F9C-845A-B39615C2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48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5FF"/>
          </a:solidFill>
          <a:ln xmlns:a="http://schemas.openxmlformats.org/drawingml/2006/main" w="0">
            <a:solidFill>
              <a:srgbClr val="3A75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F8D10-6575-40DC-97D0-28581731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813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не менять без плана URL, заголовки и посадочные страницы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E269E-9845-4FD1-B70E-11ADA096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19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solidFill>
              <a:srgbClr val="00A8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6D192-A3DF-45D5-A646-051F207A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528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разметить рекламу, соцсети, мессенджеры и QR-коды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59529-768D-4E33-B493-D4E04255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91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EB757A-2C9F-4DE9-918E-40BA7306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243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отдельно измерять новых клиентов и действующих абонентов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2E3FF-43F9-4C49-9D85-09A5CD4B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E9ED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A9A3B1-076A-430A-BD3D-30073E03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Источник: Яндекс.Метрика · отчёт «Источники, сводка» · визиты 57 135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87A77A-FFBF-43E8-9A9A-2878D26C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813215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C8E154-58CA-457D-BEC1-6812EF11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В последнем шаге воронки виден разрыв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F3528-6196-4983-AC67-D29377DF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Это одновременно гипотеза про UX и сигнал проверить корректность целей.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4A414-12ED-4CAF-8257-3A374403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События Метрики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CA0B4-B80F-4A80-AD74-D1C8AC2A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38450"/>
            <a:ext cx="571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8E6"/>
          </a:solidFill>
          <a:ln xmlns:a="http://schemas.openxmlformats.org/drawingml/2006/main" w="0">
            <a:solidFill>
              <a:srgbClr val="6E48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112D13-FE7C-4D14-8C00-B941F58E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762250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E48E6"/>
          </a:solidFill>
          <a:ln xmlns:a="http://schemas.openxmlformats.org/drawingml/2006/main" w="0">
            <a:solidFill>
              <a:srgbClr val="6E48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07C31-7657-4BD9-8984-2B5849F1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38450"/>
            <a:ext cx="571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8E6"/>
          </a:solidFill>
          <a:ln xmlns:a="http://schemas.openxmlformats.org/drawingml/2006/main" w="0">
            <a:solidFill>
              <a:srgbClr val="6E48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84AEF-EFA7-4394-AA96-9FEBD870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62250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E48E6"/>
          </a:solidFill>
          <a:ln xmlns:a="http://schemas.openxmlformats.org/drawingml/2006/main" w="0">
            <a:solidFill>
              <a:srgbClr val="6E48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F8033-5B71-429C-8478-F7638AA5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8575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3DF3BA-A947-41B0-BA5D-903B3877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857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75FF"/>
          </a:solidFill>
          <a:ln xmlns:a="http://schemas.openxmlformats.org/drawingml/2006/main" w="0">
            <a:solidFill>
              <a:srgbClr val="3A75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CDC4B-57AA-43FC-951B-910561DF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3A75FF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3A75FF"/>
                </a:solidFill>
                <a:latin typeface="Aptos"/>
                <a:ea typeface="Aptos"/>
                <a:cs typeface="Aptos"/>
              </a:rPr>
              <a:t>1 687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D2616-3B0F-469C-9CC7-AE1FABEF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заполнений контактных данных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A17D4-B0F0-41E6-AA37-40EC90D9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28575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46121-58F0-4D4C-A9E4-70954003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2857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33BFA9-6C01-4358-A535-121DF9A2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2890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F59E0B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2EB27D-A2DB-4FA3-9FEA-C130C0E0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29000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отправок контактных данных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429A4D-24EC-4F46-9B31-7F8E8455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02907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64545"/>
                </a:solidFill>
                <a:latin typeface="Aptos"/>
                <a:ea typeface="Aptos"/>
                <a:cs typeface="Aptos"/>
              </a:rPr>
              <a:t>≈2,3% от заполнений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239D2F-59DE-4D15-9405-C9D2F5C1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52650"/>
            <a:ext cx="28575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2B7D05-CBEE-4103-9089-52FFCBCA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52650"/>
            <a:ext cx="2857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8F"/>
          </a:solidFill>
          <a:ln xmlns:a="http://schemas.openxmlformats.org/drawingml/2006/main" w="0">
            <a:solidFill>
              <a:srgbClr val="00A8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F606F2-9AF7-450C-AA57-C3E4FFD7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2890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00A88F"/>
                </a:solidFill>
                <a:latin typeface="Aptos"/>
                <a:ea typeface="Aptos"/>
                <a:cs typeface="Aptos"/>
              </a:rPr>
              <a:t>2 347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3DEA03-B204-4B88-A7F6-B63DF328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29000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кликов по телефону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535DDF-4D0F-49F4-886D-AA25E288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5918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7E5"/>
          </a:solidFill>
          <a:ln xmlns:a="http://schemas.openxmlformats.org/drawingml/2006/main" w="9525">
            <a:solidFill>
              <a:srgbClr val="F2D28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4E1C7E-766B-40B3-B99E-D961AC46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59E0B"/>
                </a:solidFill>
                <a:latin typeface="Aptos"/>
                <a:ea typeface="Aptos"/>
                <a:cs typeface="Aptos"/>
              </a:rPr>
              <a:t>Как читать этот факт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00AB12-C83A-455F-BB01-6F947555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972050"/>
            <a:ext cx="8048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39 — это целевые визиты автоцели, а не подтверждённые лиды. Сначала связываем Метрику с CRM и проверяем форму на мобильных, затем меняем интерфейс.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899A97-EEDA-41B2-BC14-E9446888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E9ED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4DCC27-CAF1-4740-ACF2-548693B5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Источник: автоцели Метрики · «заполнил контактные данные», «отправил контактные данные», «клик по номеру телефона»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6DB351-E17A-40A4-926A-34300469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415159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1BFC68-9AA3-4DE1-8BFD-90F47900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83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Главная — центр спроса; продуктовые страницы — место выбора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B3E30-67B1-4935-815B-A18FE2B6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Значит, сайт нужно строить вокруг разных пользовательских задач, а не одной общей формы.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9AEDB-53DB-42B4-93BB-708E0196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Страница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EC114-FCCE-4052-A302-38392177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43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Просмотры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EFE4E-4C9F-4BD2-B8D2-E2F18316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43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Входы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D4CE9-97AF-4073-A85D-FB28DAC8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430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Что проверить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6C465-FB43-45BE-BABA-8C4E19E5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591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E9ED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7322D-A0BE-46BA-A3A0-42B3A30B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95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8E6"/>
          </a:solidFill>
          <a:ln xmlns:a="http://schemas.openxmlformats.org/drawingml/2006/main" w="0">
            <a:solidFill>
              <a:srgbClr val="6E48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C3BFA5-9521-4027-8157-7BEA8CE2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Главная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05C948-6FEC-4FDE-AC3B-ECA0C93C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812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53,5 тыс.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4CC50-3465-4F1E-9F03-E07F7CCF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812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38,9 тыс.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1DE84-02D9-4B62-AAEC-32097936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812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главный CTA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1E7ACA-A9BA-4D1D-8F1C-92614FFB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591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E9ED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34B406-DD06-4F56-9BA7-43BD7C41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95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75FF"/>
          </a:solidFill>
          <a:ln xmlns:a="http://schemas.openxmlformats.org/drawingml/2006/main" w="0">
            <a:solidFill>
              <a:srgbClr val="3A75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124449-4E0D-4330-A687-6BC90C69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Тарифы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7A54EE-9BC8-4709-B912-E968DAD7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24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6 924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FEC1D0-CC05-451D-B86F-7F979B62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24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2 004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9E68C2-1C42-4EA3-B74B-D3215434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241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выбор тарифа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F2FD88-CBE5-4289-A5CB-BD26386D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591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E9ED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78718D-8313-4E31-882A-9EA903FC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95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8F"/>
          </a:solidFill>
          <a:ln xmlns:a="http://schemas.openxmlformats.org/drawingml/2006/main" w="0">
            <a:solidFill>
              <a:srgbClr val="00A88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1D1F07-DFB0-448E-857A-6A5A1BDD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Конфигуратор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FC6291-B2B6-4013-91A2-1119A88C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670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6 386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F13B1F-A81D-48B1-8FBB-95B20B0C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670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1 142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7D9ECF-227E-4C2C-8D8A-12EF931B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670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проверка адреса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BB16A9-9AD0-46BB-8084-5A14CC07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591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E9EDF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3DA3CF-6DF8-4A3F-89B7-5AC94C25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95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B4FF3B-AB4C-4038-B39E-A88C9695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99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Контакты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11001A-D95C-4D3E-98AD-04F91411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099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5 018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85EF53-AA4C-4CE3-88F5-325D4163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099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2 135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71E7BE-A1F8-46AC-8712-42F4CDFE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099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маршрут абонента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03CD16-0CF5-4DD6-9B28-0F6D8A3B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591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E9EDF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7165B0-0036-4543-B3F7-E5B31B4B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95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3F8C"/>
          </a:solidFill>
          <a:ln xmlns:a="http://schemas.openxmlformats.org/drawingml/2006/main" w="0">
            <a:solidFill>
              <a:srgbClr val="F33F8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7AF1F3-A0FA-4E09-8A3B-ED6471E7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Малый бизнес / Wi‑Fi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46B482-40B0-42C0-BB6B-DC7E640B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529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3 804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2A08C4-15B9-4D7A-AB55-500D7CE6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529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2 887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C0335D-96EC-40D0-A922-C4640F36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529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B2B/B2O оффер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ED3932-CCF5-4B8A-8F1A-909DBB9C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591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E9EDF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0C5C5A-9AD1-46E7-A4A6-A3542B4F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95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2F5D46-1B6C-4BC4-B719-B080C1A5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958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Оплата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6D5181-29A2-42F6-8125-9EC35358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958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2 847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66604A-652B-42A3-93CA-1CA761B8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958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1 036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BAD373-DAED-49D0-9075-E78EF89E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958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сервисный сценарий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B29B5D-D674-4BDD-B2AB-D2657856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591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E9EDF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CF162C-E171-4A7A-80CF-D9E80380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591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491CA0-8F36-4491-866C-E70E4426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007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92% визитов с автоцелью «отправка формы» начинались на главной — продуктовые страницы нужно проверить отдельно.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910E6D-02A8-467B-86F8-A295051A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E9EDF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370ADFF-1AD1-4736-B8CB-A1D04BAA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Источник: обзор Метрики и отчёт автоцели «отправка формы» · значения округлены как в интерфейсе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C0712E-16FD-4F79-909C-0FB6522C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234822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13A093-4271-4932-B70C-EAA45574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Один сайт — несколько маршрутов по подразделениям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E8C77-B4B3-45BE-9F31-E33597C8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Это не готовые решения, а проверяемые ставки на основе наблюдаемого поведения.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60ABB-5D51-4A57-8B8E-14FF9D99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0482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FB2A38-82D0-4F6D-84DC-AFBC1E1D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428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8E6"/>
          </a:solidFill>
          <a:ln xmlns:a="http://schemas.openxmlformats.org/drawingml/2006/main" w="0">
            <a:solidFill>
              <a:srgbClr val="6E48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177901-9C28-4F1B-BE47-70ECD240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0225"/>
            <a:ext cx="23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B2C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C2A09F-8FDB-4DDB-818B-08C1C9DC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Адрес → тариф → подключение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7BB7F-4CF7-4B86-82EC-434365C0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459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Сделать проверку адреса первым действием; короткая форма и понятный следующий шаг.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3061E-72C5-4C02-92B2-95972DC7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71625"/>
            <a:ext cx="50482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271AB-0C4E-430D-8558-E9533D0B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62125"/>
            <a:ext cx="8286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75FF"/>
          </a:solidFill>
          <a:ln xmlns:a="http://schemas.openxmlformats.org/drawingml/2006/main" w="0">
            <a:solidFill>
              <a:srgbClr val="3A75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1290A-8BC6-4DB7-B806-D2F1AE09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0225"/>
            <a:ext cx="638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B2B / B2O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65281-9733-4170-A0C7-9895DE67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81225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Отдельный оффер для бизнеса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8B138F-45D3-420E-BDD0-34E82E77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62225"/>
            <a:ext cx="459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Развести массовые и корпоративные сценарии: скорость, SLA, статический IP, документы, контакт менеджера.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547AC9-D0A3-4D7A-A49C-0B552B61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0482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36372-0CC5-4269-A8A4-37B4A141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8286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8F"/>
          </a:solidFill>
          <a:ln xmlns:a="http://schemas.openxmlformats.org/drawingml/2006/main" w="0">
            <a:solidFill>
              <a:srgbClr val="00A88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4C4A59-F08D-49D1-9111-9F9D4C69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638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26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ТЕЛЕФОНИЯ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C7654C-6306-4970-B539-B5B37187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Звонок — полноценная конверсия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1010E7-6D3A-463E-9C3B-2717B980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459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Связать клик, дозвон и квалификацию; добавить обратный звонок там, где форма проваливается.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798F81-16BF-4289-8EDD-E9D8774D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29000"/>
            <a:ext cx="50482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02505F-0507-4B06-822C-5295E1E5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9620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BE50A4-E609-4539-9DE1-206509E9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57600"/>
            <a:ext cx="7715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5804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ТЕЛЕВИДЕНИЕ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0FB91F-349A-4930-9960-22C94545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3860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ТВ как понятный cross‑sell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BE90A6-8160-4499-98EF-D08F4149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9600"/>
            <a:ext cx="459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Показывать ТВ в составе тарифов и конфигуратора, а не прятать отдельным разделом.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5EE3EC-E73D-4730-8787-41A82DFF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062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Общий принцип: каждое подразделение получает свой сценарий и свою бизнес-метрику, но все маршруты сходятся в едином учёте лида.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242CA0-6924-4320-BCA2-B00259B7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E9ED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128344-43F0-4D37-8D50-3594954F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Основание: структура посадочных страниц, клики по телефону, формы и смешанный сервисный/продуктовый трафик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C05DE0-AAA0-4CF0-9351-1631B5A5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381401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685BB6-BDB8-4DD2-9F53-AE42466F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Проверяем не клики, а квалифицированные подключения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01DC4-BB5E-4582-91A5-5A113EDC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Предлагаемый контур на первые 30 дней после согласования.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B820E-8692-4EDA-9C22-94F6CCE7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1432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202E3-C512-45CD-A7A8-31ACF5C4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1432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8E6"/>
          </a:solidFill>
          <a:ln xmlns:a="http://schemas.openxmlformats.org/drawingml/2006/main" w="0">
            <a:solidFill>
              <a:srgbClr val="6E48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4A151-1BEC-4F91-BD63-BEA50A1D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1. Зафиксировать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493E9-36DE-4932-9102-2474DF5E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686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form_view</a:t>
            </a:r>
          </a:p>
          <a:p xmlns:a="http://schemas.openxmlformats.org/drawingml/2006/main">
            <a:pPr algn="l">
              <a:defRPr sz="1575" b="0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form_start</a:t>
            </a:r>
          </a:p>
          <a:p xmlns:a="http://schemas.openxmlformats.org/drawingml/2006/main">
            <a:pPr algn="l">
              <a:defRPr sz="1575" b="0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field_error</a:t>
            </a:r>
          </a:p>
          <a:p xmlns:a="http://schemas.openxmlformats.org/drawingml/2006/main">
            <a:pPr algn="l">
              <a:defRPr sz="1575" b="0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address_check</a:t>
            </a:r>
          </a:p>
          <a:p xmlns:a="http://schemas.openxmlformats.org/drawingml/2006/main">
            <a:pPr algn="l">
              <a:defRPr sz="1575" b="0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form_success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684B9-6DCD-40E4-97D5-4B255C1D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00400"/>
            <a:ext cx="2286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EC14C6-1C5D-4DCC-9DEC-150D1C46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24200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745FA-508A-45E9-B22C-720065FA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31432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305F0-A003-4AD4-8F54-5CE892A2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31432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75FF"/>
          </a:solidFill>
          <a:ln xmlns:a="http://schemas.openxmlformats.org/drawingml/2006/main" w="0">
            <a:solidFill>
              <a:srgbClr val="3A75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51E59-D66D-403E-B787-5F8BEBB1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574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2. Связать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705F75-7469-4B02-BCF6-8FFFFFEA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2686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Метрика → CRM</a:t>
            </a:r>
          </a:p>
          <a:p xmlns:a="http://schemas.openxmlformats.org/drawingml/2006/main">
            <a:pPr algn="l">
              <a:defRPr sz="1575" b="0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lead_id</a:t>
            </a:r>
          </a:p>
          <a:p xmlns:a="http://schemas.openxmlformats.org/drawingml/2006/main">
            <a:pPr algn="l">
              <a:defRPr sz="1575" b="0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источник</a:t>
            </a:r>
          </a:p>
          <a:p xmlns:a="http://schemas.openxmlformats.org/drawingml/2006/main">
            <a:pPr algn="l">
              <a:defRPr sz="1575" b="0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тариф</a:t>
            </a:r>
          </a:p>
          <a:p xmlns:a="http://schemas.openxmlformats.org/drawingml/2006/main">
            <a:pPr algn="l">
              <a:defRPr sz="1575" b="0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статус лида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61DBD-ABD1-4F55-909A-CA34B359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00400"/>
            <a:ext cx="2286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23800C-9344-497E-8FFA-807546EE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24200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F56386-8413-4884-860B-F472A4A3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14500"/>
            <a:ext cx="31432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1423DB-6FF3-464D-BF3F-231C777F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14500"/>
            <a:ext cx="31432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8F"/>
          </a:solidFill>
          <a:ln xmlns:a="http://schemas.openxmlformats.org/drawingml/2006/main" w="0">
            <a:solidFill>
              <a:srgbClr val="00A88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F729A9-9817-4920-B799-DB53D5EF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574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3. Проверить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1CDF04-AD60-453D-BD3B-781A55BA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2686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квалифицированный лид</a:t>
            </a:r>
          </a:p>
          <a:p xmlns:a="http://schemas.openxmlformats.org/drawingml/2006/main">
            <a:pPr algn="l">
              <a:defRPr sz="1575" b="0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дозвон</a:t>
            </a:r>
          </a:p>
          <a:p xmlns:a="http://schemas.openxmlformats.org/drawingml/2006/main">
            <a:pPr algn="l">
              <a:defRPr sz="1575" b="0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подключение</a:t>
            </a:r>
          </a:p>
          <a:p xmlns:a="http://schemas.openxmlformats.org/drawingml/2006/main">
            <a:pPr algn="l">
              <a:defRPr sz="1575" b="0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выручка</a:t>
            </a:r>
          </a:p>
          <a:p xmlns:a="http://schemas.openxmlformats.org/drawingml/2006/main">
            <a:pPr algn="l">
              <a:defRPr sz="1575" b="0" i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4213D"/>
                </a:solidFill>
                <a:latin typeface="Aptos"/>
                <a:ea typeface="Aptos"/>
                <a:cs typeface="Aptos"/>
              </a:rPr>
              <a:t>стоимость лида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643602-34EF-404F-BB71-B9E89D6E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591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ADFDE7-743C-4BDF-8E1B-D17F8EF5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275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Главная метрика: квалифицированные подключения / визиты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4C8040-5CBF-4927-8CBF-DD71F046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276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617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D6DBE8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D6DBE8"/>
                </a:solidFill>
                <a:latin typeface="Aptos"/>
                <a:ea typeface="Aptos"/>
                <a:cs typeface="Aptos"/>
              </a:rPr>
              <a:t>Защитные метрики: SEO-трафик · скорость ответа · нагрузка на поддержку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AAB055-500F-46E1-A401-2D1D9931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5"/>
          </a:solidFill>
          <a:ln xmlns:a="http://schemas.openxmlformats.org/drawingml/2006/main" w="0">
            <a:solidFill>
              <a:srgbClr val="E9EDF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3EC5C9-3613-4138-99E0-2FAC862A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Сейчас в Метрике видны автоцели; CRM, коллтрекинг и выручка в исследованной сессии не были доступны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D3E7FE-B04F-4D74-A2F8-F4F39559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214209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C9900-2D9E-4327-BCD9-A1C98709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Что нужно решить сегодня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973CA-EECE-4A81-B7F8-49DACC88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B7C0D4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B7C0D4"/>
                </a:solidFill>
                <a:latin typeface="Aptos"/>
                <a:ea typeface="Aptos"/>
                <a:cs typeface="Aptos"/>
              </a:rPr>
              <a:t>Чтобы редизайн стал управляемым продуктовым экспериментом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5918B-6DB9-4AE7-B81B-88EFA241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B7A5FF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B7A5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99489-17D8-4656-A9B2-6D36C207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383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Назначить владельца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79849-B771-4A8A-8EAA-FD559644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6695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D6DBE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D6DBE8"/>
                </a:solidFill>
                <a:latin typeface="Aptos"/>
                <a:ea typeface="Aptos"/>
                <a:cs typeface="Aptos"/>
              </a:rPr>
              <a:t>один ответственный за путь от визита до подключения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D8607-4DBB-43DA-81D6-8BDB8799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05125"/>
            <a:ext cx="9334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435D"/>
          </a:solidFill>
          <a:ln xmlns:a="http://schemas.openxmlformats.org/drawingml/2006/main" w="0">
            <a:solidFill>
              <a:srgbClr val="3943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6BFB0-8F0F-42BB-8ED9-35539CE5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B7A5FF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B7A5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BD98F-6291-4FB0-A71F-AEEB9CD4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813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Утвердить маршруты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FDE32-FCAD-4836-8DA6-1847EDE7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0995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D6DBE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D6DBE8"/>
                </a:solidFill>
                <a:latin typeface="Aptos"/>
                <a:ea typeface="Aptos"/>
                <a:cs typeface="Aptos"/>
              </a:rPr>
              <a:t>B2C · B2B/B2O · действующий абонент · ТВ/телефония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EC62B4-29F2-41AE-911E-74F5E2D4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48125"/>
            <a:ext cx="9334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435D"/>
          </a:solidFill>
          <a:ln xmlns:a="http://schemas.openxmlformats.org/drawingml/2006/main" w="0">
            <a:solidFill>
              <a:srgbClr val="39435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BD2D58-FB96-4504-ADAF-5A5C3477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B7A5FF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B7A5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DF6D8C-9D02-45E8-BF4D-412ED48A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243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Запустить измерение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63E475-E52E-463C-80AC-FA62A9A6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55295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D6DBE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D6DBE8"/>
                </a:solidFill>
                <a:latin typeface="Aptos"/>
                <a:ea typeface="Aptos"/>
                <a:cs typeface="Aptos"/>
              </a:rPr>
              <a:t>события, CRM-связка и первый тест формы/звонка за 30 дней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F63156-1AD0-40FB-BBA0-8EC9BE2F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91125"/>
            <a:ext cx="9334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435D"/>
          </a:solidFill>
          <a:ln xmlns:a="http://schemas.openxmlformats.org/drawingml/2006/main" w="0">
            <a:solidFill>
              <a:srgbClr val="39435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9C741A-4047-46D1-93FE-F8A88AE0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7620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8E6"/>
          </a:solidFill>
          <a:ln xmlns:a="http://schemas.openxmlformats.org/drawingml/2006/main" w="0">
            <a:solidFill>
              <a:srgbClr val="6E48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40DD74-DBF1-46B7-B444-9FE56B88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Метрика показывает спрос. CRM и телефония подтвердят ценность.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F8950E-3366-4AB2-995E-17FE0185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115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B7C0D4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B7C0D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581223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2026-07-20T18:15:37.1220000Z</dcterms:created>
  <dcterms:modified xsi:type="dcterms:W3CDTF">2026-07-20T18:15:37.1230000Z</dcterms:modified>
</coreProperties>
</file>